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IAIyKIsk/FZbPjpk1EHbsypxl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Oswald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" Target="slides/slide1.xml"/><Relationship Id="rId19" Type="http://schemas.openxmlformats.org/officeDocument/2006/relationships/font" Target="fonts/Inter-boldItalic.fntdata"/><Relationship Id="rId6" Type="http://schemas.openxmlformats.org/officeDocument/2006/relationships/slide" Target="slides/slide2.xml"/><Relationship Id="rId18" Type="http://schemas.openxmlformats.org/officeDocument/2006/relationships/font" Target="fonts/In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f380b3411_0_0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g3cf380b3411_0_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cf380b3411_0_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3.png"/><Relationship Id="rId5" Type="http://schemas.openxmlformats.org/officeDocument/2006/relationships/image" Target="../media/image35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jpg"/><Relationship Id="rId4" Type="http://schemas.openxmlformats.org/officeDocument/2006/relationships/image" Target="../media/image37.png"/><Relationship Id="rId9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36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23.png"/><Relationship Id="rId5" Type="http://schemas.openxmlformats.org/officeDocument/2006/relationships/image" Target="../media/image1.png"/><Relationship Id="rId6" Type="http://schemas.openxmlformats.org/officeDocument/2006/relationships/image" Target="../media/image34.png"/><Relationship Id="rId7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40" y="57240"/>
            <a:ext cx="902952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0" y="360"/>
            <a:ext cx="9144000" cy="514332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28560" y="1380240"/>
            <a:ext cx="9143640" cy="14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PREDICTION </a:t>
            </a:r>
            <a:endParaRPr b="0" i="0" sz="5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2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MARKETS</a:t>
            </a:r>
            <a:r>
              <a:rPr b="1" i="0" lang="en-US" sz="57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BRASIL</a:t>
            </a:r>
            <a:endParaRPr b="0" i="0" sz="5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28560" y="4148640"/>
            <a:ext cx="8176004" cy="310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Integrantes: Eduardo Castilhos, Gustavo Longo e Júlio Spigolan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-214746" y="394467"/>
            <a:ext cx="9143640" cy="670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400" spcFirstLastPara="1" rIns="0" wrap="square" tIns="0">
            <a:spAutoFit/>
          </a:bodyPr>
          <a:lstStyle/>
          <a:p>
            <a:pPr indent="0" lvl="0" marL="0" marR="0" rtl="0" algn="l">
              <a:lnSpc>
                <a:spcPct val="1094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 </a:t>
            </a:r>
            <a:r>
              <a:rPr b="1" i="0" lang="en-US" sz="40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PROBLEMA</a:t>
            </a:r>
            <a:r>
              <a:rPr b="1" i="0" lang="en-US" sz="4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E O CENÁRIO ATUAL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363679"/>
            <a:ext cx="3985920" cy="3450775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00120" y="1724760"/>
            <a:ext cx="3700080" cy="33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O PROBLEMA IDENTIFICADO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00125" y="2160000"/>
            <a:ext cx="3700200" cy="221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Ausência de plataformas para o público brasileiro.</a:t>
            </a:r>
            <a:endParaRPr b="0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Falta de temas e eventos locais.</a:t>
            </a:r>
            <a:endParaRPr b="0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Barreiras de acesso e usabilidade inadequada.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700520" y="1363680"/>
            <a:ext cx="3985920" cy="3450774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843440" y="1724760"/>
            <a:ext cx="3700080" cy="33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SITUAÇÃO ATUAL DO CLIENTE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843450" y="2149930"/>
            <a:ext cx="3700200" cy="2533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Dependência de sites estrangeiros (Polymarket, Kalshi, Manifold).</a:t>
            </a:r>
            <a:endParaRPr b="0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Obstáculos linguísticos e geobloqueios para brasileiros.</a:t>
            </a:r>
            <a:endParaRPr b="0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Ausência de mercados focados em assuntos nacionais.</a:t>
            </a:r>
            <a:endParaRPr b="0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0" cy="557172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/>
          <p:nvPr/>
        </p:nvSpPr>
        <p:spPr>
          <a:xfrm>
            <a:off x="0" y="735120"/>
            <a:ext cx="91436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400" spcFirstLastPara="1" rIns="0" wrap="square" tIns="0">
            <a:spAutoFit/>
          </a:bodyPr>
          <a:lstStyle/>
          <a:p>
            <a:pPr indent="0" lvl="0" marL="0" marR="0" rtl="0" algn="l">
              <a:lnSpc>
                <a:spcPct val="1094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0"/>
              <a:buFont typeface="Arial"/>
              <a:buNone/>
            </a:pPr>
            <a:r>
              <a:rPr b="1" i="0" lang="en-US" sz="329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NOSSA </a:t>
            </a:r>
            <a:r>
              <a:rPr b="1" i="0" lang="en-US" sz="329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PROPOSTA</a:t>
            </a:r>
            <a:r>
              <a:rPr b="1" i="0" lang="en-US" sz="329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: A SOLUÇÃO</a:t>
            </a:r>
            <a:endParaRPr b="0" i="0" sz="32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71680" y="1306440"/>
            <a:ext cx="3957120" cy="120492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71680" y="1306440"/>
            <a:ext cx="3957120" cy="14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" name="Google Shape;4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240" y="1606320"/>
            <a:ext cx="14976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950040" y="1544226"/>
            <a:ext cx="1991520" cy="337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RELEVÂNCIA LOCAL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14240" y="1983240"/>
            <a:ext cx="3671640" cy="38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7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Focados exclusivamente em política, economia e cultura do Brasil (ex: Selic, votações no Congresso).</a:t>
            </a:r>
            <a:endParaRPr b="0" i="0" sz="113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614840" y="1306440"/>
            <a:ext cx="3957120" cy="120492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614840" y="1306440"/>
            <a:ext cx="3957120" cy="14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" name="Google Shape;4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7760" y="1606320"/>
            <a:ext cx="14976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4993560" y="1558080"/>
            <a:ext cx="1370160" cy="337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PAGAMENTOS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757580" y="1920600"/>
            <a:ext cx="3671640" cy="38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7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Transações via PIX, eliminando a barreira técnica de criptomoedas.</a:t>
            </a:r>
            <a:endParaRPr b="0" i="0" sz="113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71680" y="2583360"/>
            <a:ext cx="3957120" cy="158685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71680" y="2583360"/>
            <a:ext cx="3957120" cy="14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240" y="2883240"/>
            <a:ext cx="24984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1050120" y="2835000"/>
            <a:ext cx="1649880" cy="337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ACESSIBILIDADE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714240" y="3239373"/>
            <a:ext cx="3671640" cy="38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7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Interface 100% em português, com suporte local e regras claras adaptadas ao investidor brasileiro.</a:t>
            </a:r>
            <a:endParaRPr b="0" i="0" sz="113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614840" y="2583360"/>
            <a:ext cx="3957120" cy="158685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614840" y="2583360"/>
            <a:ext cx="3957120" cy="14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9" name="Google Shape;5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7760" y="2883240"/>
            <a:ext cx="19980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5043600" y="2835000"/>
            <a:ext cx="1424880" cy="337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INTELIGÊNCIA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57760" y="3260160"/>
            <a:ext cx="3671640" cy="38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7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Transformação da opinião coletiva em indicadores de probabilidade em tempo real para tomada de decisão.</a:t>
            </a:r>
            <a:endParaRPr b="0" i="0" sz="113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0" y="428760"/>
            <a:ext cx="91436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400" spcFirstLastPara="1" rIns="0" wrap="square" tIns="0">
            <a:spAutoFit/>
          </a:bodyPr>
          <a:lstStyle/>
          <a:p>
            <a:pPr indent="0" lvl="0" marL="0" marR="0" rtl="0" algn="l">
              <a:lnSpc>
                <a:spcPct val="1094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0"/>
              <a:buFont typeface="Arial"/>
              <a:buNone/>
            </a:pPr>
            <a:r>
              <a:rPr b="1" i="0" lang="en-US" sz="329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FUNÇÕES DO </a:t>
            </a:r>
            <a:r>
              <a:rPr b="1" i="0" lang="en-US" sz="329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SISTEMA</a:t>
            </a:r>
            <a:endParaRPr b="0" i="0" sz="32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71680" y="1171440"/>
            <a:ext cx="3957120" cy="122112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71680" y="1171440"/>
            <a:ext cx="28080" cy="1221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" name="Google Shape;7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240" y="1304170"/>
            <a:ext cx="14256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942840" y="1241083"/>
            <a:ext cx="1152000" cy="286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NEGOCIAÇÃO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14240" y="1514368"/>
            <a:ext cx="3671640" cy="825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Compra e venda direta de cotas de resultados entre usuários, com formação de preço dinâmica pelo mercado.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614840" y="1171440"/>
            <a:ext cx="3957120" cy="122112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614840" y="1171440"/>
            <a:ext cx="28080" cy="1221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" name="Google Shape;7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7760" y="1304170"/>
            <a:ext cx="16020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5004360" y="1241083"/>
            <a:ext cx="1235880" cy="286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INTEGRAÇÕES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757760" y="1514368"/>
            <a:ext cx="3671640" cy="825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Integração com APIs de dados oficiais e portais de notícias para resolução automatizada e justa de eventos.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71680" y="2478960"/>
            <a:ext cx="3957120" cy="122112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71680" y="2478960"/>
            <a:ext cx="28080" cy="1221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" name="Google Shape;8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240" y="2611690"/>
            <a:ext cx="14256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942840" y="2548603"/>
            <a:ext cx="2261880" cy="286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CARTEIRA PIX INTEGRADA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4240" y="2821528"/>
            <a:ext cx="3671640" cy="825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Depósitos e saques instantâneos via PIX, garantindo liquidez e facilidade de transação em moeda local.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614840" y="2478960"/>
            <a:ext cx="3957120" cy="122112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614840" y="2478960"/>
            <a:ext cx="28080" cy="1221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7760" y="2611690"/>
            <a:ext cx="16020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5004360" y="2548603"/>
            <a:ext cx="2889720" cy="286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DASHBOARDS DE PROBABILIDADE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757760" y="2821528"/>
            <a:ext cx="3671640" cy="825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Visualização em tempo real das chances de cada evento, baseada no volume e preço das negociações.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71680" y="3786120"/>
            <a:ext cx="3957120" cy="122112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71680" y="3786120"/>
            <a:ext cx="28080" cy="1221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240" y="3918850"/>
            <a:ext cx="14256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942840" y="3855763"/>
            <a:ext cx="2137320" cy="286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HISTÓRICO E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14240" y="4129048"/>
            <a:ext cx="3671640" cy="825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Rastreamento completo de performance do usuário e métricas de precisão das previsões do mercado.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614840" y="3786120"/>
            <a:ext cx="3957120" cy="122112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614840" y="3786120"/>
            <a:ext cx="28080" cy="1221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6" name="Google Shape;9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7760" y="3918850"/>
            <a:ext cx="14256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4986360" y="3855763"/>
            <a:ext cx="1135080" cy="286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COMPLIANCE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757760" y="4129048"/>
            <a:ext cx="3671640" cy="825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Verificação de identidade (KYC) e monitoramento de transações para garantir segurança e conformidade legal.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0" cy="557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0" y="735120"/>
            <a:ext cx="91436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400" spcFirstLastPara="1" rIns="0" wrap="square" tIns="0">
            <a:spAutoFit/>
          </a:bodyPr>
          <a:lstStyle/>
          <a:p>
            <a:pPr indent="0" lvl="0" marL="0" marR="0" rtl="0" algn="l">
              <a:lnSpc>
                <a:spcPct val="1094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0"/>
              <a:buFont typeface="Arial"/>
              <a:buNone/>
            </a:pPr>
            <a:r>
              <a:rPr b="1" i="0" lang="en-US" sz="329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PÚBLICO E </a:t>
            </a:r>
            <a:r>
              <a:rPr b="1" i="0" lang="en-US" sz="329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POTENCIAL CLIENTE</a:t>
            </a:r>
            <a:endParaRPr b="0" i="0" sz="32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07680" y="1306440"/>
            <a:ext cx="7672320" cy="319356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 flipH="1" rot="10800000">
            <a:off x="607680" y="1259640"/>
            <a:ext cx="7708320" cy="46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1425" lIns="90000" spcFirstLastPara="1" rIns="90000" wrap="square" tIns="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50240" y="1349280"/>
            <a:ext cx="3628800" cy="33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QUEM VAI USAR? (USUÁRIOS)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000" y="1800000"/>
            <a:ext cx="149760" cy="1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984687" y="1730730"/>
            <a:ext cx="3407040" cy="339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Analistas e Economistas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977759" y="2018160"/>
            <a:ext cx="7240967" cy="256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5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Profissionais que buscam validar teses de mercado com monetização.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240" y="2700000"/>
            <a:ext cx="192600" cy="1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1014840" y="2609949"/>
            <a:ext cx="3364200" cy="339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Investidores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014850" y="2917800"/>
            <a:ext cx="7807329" cy="256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5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Pessoas </a:t>
            </a: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habituados a corretoras e "Bets", buscando mercados de inteligência.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7200" y="3600000"/>
            <a:ext cx="192600" cy="1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991800" y="3509949"/>
            <a:ext cx="3364200" cy="339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Entusiastas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991799" y="3817800"/>
            <a:ext cx="6614345" cy="256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5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Pessoas com profundo conhecimento em nichos, como política regional ou esportes.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g3cf380b341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2" cy="557171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cf380b3411_0_0"/>
          <p:cNvSpPr/>
          <p:nvPr/>
        </p:nvSpPr>
        <p:spPr>
          <a:xfrm>
            <a:off x="0" y="735120"/>
            <a:ext cx="91437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400" spcFirstLastPara="1" rIns="0" wrap="square" tIns="0">
            <a:noAutofit/>
          </a:bodyPr>
          <a:lstStyle/>
          <a:p>
            <a:pPr indent="0" lvl="0" marL="0" marR="0" rtl="0" algn="l">
              <a:lnSpc>
                <a:spcPct val="1094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0"/>
              <a:buFont typeface="Arial"/>
              <a:buNone/>
            </a:pPr>
            <a:r>
              <a:rPr b="1" i="0" lang="en-US" sz="329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VIABILIDADE</a:t>
            </a:r>
            <a:endParaRPr b="0" i="0" sz="32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cf380b3411_0_0"/>
          <p:cNvSpPr/>
          <p:nvPr/>
        </p:nvSpPr>
        <p:spPr>
          <a:xfrm flipH="1" rot="10800000">
            <a:off x="607680" y="1259520"/>
            <a:ext cx="7708200" cy="46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1425" lIns="90000" spcFirstLastPara="1" rIns="90000" wrap="square" tIns="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cf380b3411_0_0"/>
          <p:cNvSpPr/>
          <p:nvPr/>
        </p:nvSpPr>
        <p:spPr>
          <a:xfrm>
            <a:off x="968500" y="4569425"/>
            <a:ext cx="58482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5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"/>
              <a:buFont typeface="Arial"/>
              <a:buNone/>
            </a:pPr>
            <a:r>
              <a:rPr b="0" i="0" lang="en-US" sz="1039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Fonte: Forbes No Brasil, Número de Empresas de Apostas Cresceu 153% desde 2021</a:t>
            </a:r>
            <a:endParaRPr b="0" i="0" sz="103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cf380b341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638" y="1528798"/>
            <a:ext cx="6900276" cy="28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cf380b341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4425" y="2404975"/>
            <a:ext cx="1826475" cy="2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cf380b341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6875" y="3373800"/>
            <a:ext cx="4858525" cy="2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cf380b341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0075" y="3628400"/>
            <a:ext cx="815500" cy="155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cf380b341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9900" y="3628400"/>
            <a:ext cx="815500" cy="15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/>
          <p:nvPr/>
        </p:nvSpPr>
        <p:spPr>
          <a:xfrm>
            <a:off x="0" y="428760"/>
            <a:ext cx="91436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400" spcFirstLastPara="1" rIns="0" wrap="square" tIns="0">
            <a:spAutoFit/>
          </a:bodyPr>
          <a:lstStyle/>
          <a:p>
            <a:pPr indent="0" lvl="0" marL="0" marR="0" rtl="0" algn="l">
              <a:lnSpc>
                <a:spcPct val="1094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0"/>
              <a:buFont typeface="Arial"/>
              <a:buNone/>
            </a:pPr>
            <a:r>
              <a:rPr b="1" i="0" lang="en-US" sz="329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CENÁRIO </a:t>
            </a:r>
            <a:r>
              <a:rPr b="1" i="0" lang="en-US" sz="329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COMPETITIVO</a:t>
            </a:r>
            <a:endParaRPr b="0" i="0" sz="32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609780" y="1630838"/>
            <a:ext cx="1756440" cy="41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CONCORRENTE</a:t>
            </a:r>
            <a:endParaRPr b="1" i="0" sz="1600" u="none" cap="none" strike="noStrike">
              <a:solidFill>
                <a:schemeClr val="lt1"/>
              </a:solidFill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2366580" y="1630838"/>
            <a:ext cx="2206080" cy="41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FOCO GEOGRÁFICO</a:t>
            </a:r>
            <a:endParaRPr b="1" i="0" sz="1600" u="none" cap="none" strike="noStrike">
              <a:solidFill>
                <a:schemeClr val="lt1"/>
              </a:solidFill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4572660" y="1630838"/>
            <a:ext cx="1877760" cy="41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MOEDA/ACESSO</a:t>
            </a:r>
            <a:endParaRPr b="1" i="0" sz="1600" u="none" cap="none" strike="noStrike">
              <a:solidFill>
                <a:schemeClr val="lt1"/>
              </a:solidFill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6451140" y="1630838"/>
            <a:ext cx="2159280" cy="41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33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TIPO DE MERCADO</a:t>
            </a:r>
            <a:endParaRPr b="1" i="0" sz="1600" u="none" cap="none" strike="noStrike">
              <a:solidFill>
                <a:schemeClr val="lt1"/>
              </a:solidFill>
            </a:endParaRPr>
          </a:p>
        </p:txBody>
      </p:sp>
      <p:cxnSp>
        <p:nvCxnSpPr>
          <p:cNvPr id="141" name="Google Shape;141;p13"/>
          <p:cNvCxnSpPr/>
          <p:nvPr/>
        </p:nvCxnSpPr>
        <p:spPr>
          <a:xfrm>
            <a:off x="518160" y="2023978"/>
            <a:ext cx="7734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13"/>
          <p:cNvCxnSpPr/>
          <p:nvPr/>
        </p:nvCxnSpPr>
        <p:spPr>
          <a:xfrm>
            <a:off x="518160" y="2404978"/>
            <a:ext cx="7734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13"/>
          <p:cNvSpPr/>
          <p:nvPr/>
        </p:nvSpPr>
        <p:spPr>
          <a:xfrm>
            <a:off x="609420" y="2053238"/>
            <a:ext cx="175644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Polymarket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2366220" y="2053238"/>
            <a:ext cx="220608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Global (EUA/Europa)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4572300" y="2053238"/>
            <a:ext cx="187776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Cripto (USDC)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6450780" y="2053238"/>
            <a:ext cx="215928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Eventos Globais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13"/>
          <p:cNvCxnSpPr/>
          <p:nvPr/>
        </p:nvCxnSpPr>
        <p:spPr>
          <a:xfrm>
            <a:off x="518160" y="2778358"/>
            <a:ext cx="7734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13"/>
          <p:cNvCxnSpPr/>
          <p:nvPr/>
        </p:nvCxnSpPr>
        <p:spPr>
          <a:xfrm>
            <a:off x="518160" y="3174598"/>
            <a:ext cx="7734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3"/>
          <p:cNvSpPr/>
          <p:nvPr/>
        </p:nvSpPr>
        <p:spPr>
          <a:xfrm>
            <a:off x="617400" y="2426276"/>
            <a:ext cx="175644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Kalshi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2374200" y="2426276"/>
            <a:ext cx="220608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EUA (Regulado)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4580280" y="2426276"/>
            <a:ext cx="187776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Dólar e Cripto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6458760" y="2426276"/>
            <a:ext cx="215928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Financeiro/EUA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617400" y="2818076"/>
            <a:ext cx="175644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Bets Esportivas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2374200" y="2818076"/>
            <a:ext cx="220608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Brasil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4580280" y="2818076"/>
            <a:ext cx="187776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Real/PIX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6458760" y="2818076"/>
            <a:ext cx="2159280" cy="32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276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Sorte/Esportes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617400" y="3218820"/>
            <a:ext cx="1756500" cy="337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3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Nossa Solução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2374200" y="3218820"/>
            <a:ext cx="2206200" cy="337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3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Brasil (Local)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4580280" y="3232674"/>
            <a:ext cx="1877700" cy="337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3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Real (PIX)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6458760" y="3218820"/>
            <a:ext cx="2159400" cy="337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00" lIns="127425" spcFirstLastPara="1" rIns="8625" wrap="square" tIns="34200">
            <a:spAutoFit/>
          </a:bodyPr>
          <a:lstStyle/>
          <a:p>
            <a:pPr indent="0" lvl="0" marL="0" marR="0" rtl="0" algn="l">
              <a:lnSpc>
                <a:spcPct val="13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Inteligência/Dados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80000" cy="52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-324000" y="699120"/>
            <a:ext cx="9263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400" spcFirstLastPara="1" rIns="0" wrap="square" tIns="0">
            <a:spAutoFit/>
          </a:bodyPr>
          <a:lstStyle/>
          <a:p>
            <a:pPr indent="0" lvl="0" marL="0" marR="0" rtl="0" algn="l">
              <a:lnSpc>
                <a:spcPct val="1094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0"/>
              <a:buFont typeface="Arial"/>
              <a:buNone/>
            </a:pPr>
            <a:r>
              <a:rPr b="1" i="0" lang="en-US" sz="329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VIABILIDADE </a:t>
            </a:r>
            <a:r>
              <a:rPr b="1" i="0" lang="en-US" sz="329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TÉCNICA E COMERCIAL</a:t>
            </a:r>
            <a:endParaRPr b="0" i="0" sz="32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71680" y="1334880"/>
            <a:ext cx="3893040" cy="310950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71680" y="1334880"/>
            <a:ext cx="3893040" cy="28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14240" y="1562880"/>
            <a:ext cx="3607200" cy="382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VIABILIDADE TÉCNICA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1" name="Google Shape;1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240" y="2078280"/>
            <a:ext cx="17100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1000080" y="2021130"/>
            <a:ext cx="3071520" cy="29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Previsões e APIs Maduras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000080" y="2303280"/>
            <a:ext cx="3321360" cy="504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Fontes de dados oficiais (Bloomberg, Reuters, G1).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4" name="Google Shape;17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240" y="2749320"/>
            <a:ext cx="19260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1021679" y="2721328"/>
            <a:ext cx="5157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Infraestrutura PIX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021680" y="3003478"/>
            <a:ext cx="33000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Integração com gateways de pagamento instantâneo.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7" name="Google Shape;17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240" y="3600000"/>
            <a:ext cx="17100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/>
          <p:nvPr/>
        </p:nvSpPr>
        <p:spPr>
          <a:xfrm>
            <a:off x="1000079" y="3542850"/>
            <a:ext cx="5190081" cy="29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Segurança e Auditoria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000080" y="3825000"/>
            <a:ext cx="3321360" cy="252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Logs auditáveis para transparência total.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679280" y="1334880"/>
            <a:ext cx="3893040" cy="310950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679280" y="1334880"/>
            <a:ext cx="3893040" cy="28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822200" y="1562880"/>
            <a:ext cx="3607200" cy="382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VIABILIDADE COMERCIAL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3" name="Google Shape;18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2200" y="2078280"/>
            <a:ext cx="19260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5129279" y="2021130"/>
            <a:ext cx="5156891" cy="29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Modelo de Receita Claro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129280" y="2303280"/>
            <a:ext cx="3300120" cy="252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Monetização através de taxas sobre transações.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6" name="Google Shape;18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2200" y="2749320"/>
            <a:ext cx="21384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5150520" y="2692170"/>
            <a:ext cx="5123138" cy="29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Escalabilidade Peer-to-Peer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150520" y="2974320"/>
            <a:ext cx="3278520" cy="504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 modelo de mercado elimina o risco da "casa", pois os usuários negociam entre si.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9" name="Google Shape;18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22200" y="3600000"/>
            <a:ext cx="17100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5107679" y="3542850"/>
            <a:ext cx="5190081" cy="29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Baixo CAC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07680" y="3825000"/>
            <a:ext cx="3321360" cy="504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Aproveitamento do hábito já consolidado no Brasil.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" y="8280"/>
            <a:ext cx="9143640" cy="557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0" y="735120"/>
            <a:ext cx="91436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400" spcFirstLastPara="1" rIns="0" wrap="square" tIns="0">
            <a:spAutoFit/>
          </a:bodyPr>
          <a:lstStyle/>
          <a:p>
            <a:pPr indent="0" lvl="0" marL="0" marR="0" rtl="0" algn="l">
              <a:lnSpc>
                <a:spcPct val="1094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0"/>
              <a:buFont typeface="Arial"/>
              <a:buNone/>
            </a:pPr>
            <a:r>
              <a:rPr b="1" i="0" lang="en-US" sz="329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RISCOS E </a:t>
            </a:r>
            <a:r>
              <a:rPr b="1" i="0" lang="en-US" sz="329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POTENCIALIDADE</a:t>
            </a:r>
            <a:endParaRPr b="0" i="0" sz="32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71675" y="1278000"/>
            <a:ext cx="1914000" cy="355080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71680" y="1278000"/>
            <a:ext cx="1914120" cy="6840"/>
          </a:xfrm>
          <a:prstGeom prst="rect">
            <a:avLst/>
          </a:prstGeom>
          <a:solidFill>
            <a:srgbClr val="B3F7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1" name="Google Shape;20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0000" y="1387440"/>
            <a:ext cx="19980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720000" y="1648575"/>
            <a:ext cx="1628640" cy="59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RISCOS REGULATÓRIOS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85800" y="2382300"/>
            <a:ext cx="1685400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7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Mudanças na legislação de apostas e jogos no Brasil podem exigir adaptações rápidas no modelo de operação e compliance.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600274" y="1278000"/>
            <a:ext cx="1914000" cy="355080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600280" y="1278000"/>
            <a:ext cx="1914120" cy="6840"/>
          </a:xfrm>
          <a:prstGeom prst="rect">
            <a:avLst/>
          </a:prstGeom>
          <a:solidFill>
            <a:srgbClr val="B3F7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6" name="Google Shape;20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0200" y="1420200"/>
            <a:ext cx="19980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2920320" y="1648575"/>
            <a:ext cx="1399680" cy="59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POTENCIAL DE MERCADO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2714760" y="2382300"/>
            <a:ext cx="1685400" cy="1748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7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 Brasil é um dos </a:t>
            </a:r>
            <a:r>
              <a:rPr b="1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maiores mercados de trading e apostas</a:t>
            </a: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do mundo, com alta demanda por novos ativos de inteligência.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629232" y="1278000"/>
            <a:ext cx="1914000" cy="355080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629240" y="1278000"/>
            <a:ext cx="1914120" cy="6840"/>
          </a:xfrm>
          <a:prstGeom prst="rect">
            <a:avLst/>
          </a:prstGeom>
          <a:solidFill>
            <a:srgbClr val="B3F7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00000" y="1420200"/>
            <a:ext cx="22464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4925160" y="1648575"/>
            <a:ext cx="1374840" cy="59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DESAFIO DE LIQUIDEZ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743360" y="2382300"/>
            <a:ext cx="1685400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7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 precisão dos preços depende de um volume crítico de usuários. Estratégias de </a:t>
            </a:r>
            <a:r>
              <a:rPr b="1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market making</a:t>
            </a: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serão essenciais no início.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657831" y="1278000"/>
            <a:ext cx="1914000" cy="353880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657840" y="1278000"/>
            <a:ext cx="1914120" cy="6840"/>
          </a:xfrm>
          <a:prstGeom prst="rect">
            <a:avLst/>
          </a:prstGeom>
          <a:solidFill>
            <a:srgbClr val="B3F7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6" name="Google Shape;21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0200" y="1440000"/>
            <a:ext cx="19980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6748560" y="1767015"/>
            <a:ext cx="1711440" cy="295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ESCALABILIDADE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772320" y="2362500"/>
            <a:ext cx="1685400" cy="1748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7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Modelo peer-to-peer permite crescimento exponencial sem risco para a casa, atraindo </a:t>
            </a:r>
            <a:r>
              <a:rPr b="1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capital institucional e parcerias B2B</a:t>
            </a: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4" name="Google Shape;2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0" cy="557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225" name="Google Shape;225;p9"/>
          <p:cNvSpPr/>
          <p:nvPr/>
        </p:nvSpPr>
        <p:spPr>
          <a:xfrm>
            <a:off x="0" y="735120"/>
            <a:ext cx="91436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400" spcFirstLastPara="1" rIns="0" wrap="square" tIns="0">
            <a:spAutoFit/>
          </a:bodyPr>
          <a:lstStyle/>
          <a:p>
            <a:pPr indent="0" lvl="0" marL="0" marR="0" rtl="0" algn="l">
              <a:lnSpc>
                <a:spcPct val="1094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0"/>
              <a:buFont typeface="Arial"/>
              <a:buNone/>
            </a:pPr>
            <a:r>
              <a:rPr b="1" i="0" lang="en-US" sz="329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ASPECTOS </a:t>
            </a:r>
            <a:r>
              <a:rPr b="1" i="0" lang="en-US" sz="329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NÃO FUNCIONAIS</a:t>
            </a:r>
            <a:endParaRPr b="0" i="0" sz="32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71680" y="1306440"/>
            <a:ext cx="3935880" cy="97848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71680" y="1306440"/>
            <a:ext cx="3935880" cy="6840"/>
          </a:xfrm>
          <a:prstGeom prst="rect">
            <a:avLst/>
          </a:prstGeom>
          <a:solidFill>
            <a:srgbClr val="B3F7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8" name="Google Shape;22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487160"/>
            <a:ext cx="17460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9"/>
          <p:cNvSpPr/>
          <p:nvPr/>
        </p:nvSpPr>
        <p:spPr>
          <a:xfrm>
            <a:off x="946440" y="1429395"/>
            <a:ext cx="2020680" cy="295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DISPONIBILIDADE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85800" y="2816385"/>
            <a:ext cx="3707280" cy="550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Criptografia e conformidade com a </a:t>
            </a:r>
            <a:r>
              <a:rPr b="1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LGPD</a:t>
            </a: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para proteção dos dados e privacidade dos usuários.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636440" y="1306440"/>
            <a:ext cx="3935880" cy="97848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636440" y="1306440"/>
            <a:ext cx="3935880" cy="6840"/>
          </a:xfrm>
          <a:prstGeom prst="rect">
            <a:avLst/>
          </a:prstGeom>
          <a:solidFill>
            <a:srgbClr val="B3F7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3" name="Google Shape;23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0560" y="1483560"/>
            <a:ext cx="22464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5061240" y="1425795"/>
            <a:ext cx="2071800" cy="295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ALTA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750560" y="1741215"/>
            <a:ext cx="3707280" cy="550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Latência muito baixa para atualizações em tempo real, garantindo reatividade do mercado.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71680" y="2363761"/>
            <a:ext cx="3935880" cy="1331939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71680" y="2363760"/>
            <a:ext cx="3935880" cy="6840"/>
          </a:xfrm>
          <a:prstGeom prst="rect">
            <a:avLst/>
          </a:prstGeom>
          <a:solidFill>
            <a:srgbClr val="B3F7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8" name="Google Shape;23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2544480"/>
            <a:ext cx="19980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>
            <a:off x="971640" y="2486715"/>
            <a:ext cx="1751400" cy="295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SEGURANÇA E LGPD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946440" y="1706580"/>
            <a:ext cx="3707280" cy="275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Infraestrutura 24/7 para operação contínua.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636440" y="2363760"/>
            <a:ext cx="3935880" cy="133194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636440" y="2363760"/>
            <a:ext cx="3935880" cy="6840"/>
          </a:xfrm>
          <a:prstGeom prst="rect">
            <a:avLst/>
          </a:prstGeom>
          <a:solidFill>
            <a:srgbClr val="B3F7FF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3" name="Google Shape;24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0560" y="2540880"/>
            <a:ext cx="14976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/>
          <p:nvPr/>
        </p:nvSpPr>
        <p:spPr>
          <a:xfrm>
            <a:off x="4986360" y="2483115"/>
            <a:ext cx="1664640" cy="295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AUDITABILIDADE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750560" y="2846160"/>
            <a:ext cx="3707280" cy="550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Logs imutáveis e auditáveis de todas as transações para compliance e confiança.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1" name="Google Shape;2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/>
          <p:nvPr/>
        </p:nvSpPr>
        <p:spPr>
          <a:xfrm>
            <a:off x="914400" y="1635840"/>
            <a:ext cx="445752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40"/>
              <a:buFont typeface="Arial"/>
              <a:buNone/>
            </a:pPr>
            <a:r>
              <a:rPr b="1" i="0" lang="en-US" sz="414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OBRIGADO</a:t>
            </a:r>
            <a:endParaRPr b="0" i="0" sz="41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900000" y="2539800"/>
            <a:ext cx="115236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00E5FF"/>
                </a:solidFill>
                <a:latin typeface="Oswald"/>
                <a:ea typeface="Oswald"/>
                <a:cs typeface="Oswald"/>
                <a:sym typeface="Oswald"/>
              </a:rPr>
              <a:t>INTEGRANTES</a:t>
            </a:r>
            <a:endParaRPr b="0" i="0" sz="12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900000" y="2866680"/>
            <a:ext cx="2771280" cy="27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Júlio Spigolan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900000" y="3143520"/>
            <a:ext cx="2771280" cy="27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Gustavo Longo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900000" y="3423960"/>
            <a:ext cx="202068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Eduardo Castilhos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2026-03-10T00:26:23Z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